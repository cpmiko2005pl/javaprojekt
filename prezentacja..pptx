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2194560" cy="146304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7008" y="1874519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205740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2F5FA"/>
                </a:solidFill>
                <a:latin typeface="Segoe UI"/>
              </a:rPr>
              <a:t>POLITECHNIKA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29A8E6"/>
                </a:solidFill>
                <a:latin typeface="Segoe UI"/>
              </a:rPr>
              <a:t>MONOPOLY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605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F2F5FA"/>
                </a:solidFill>
                <a:latin typeface="Segoe UI"/>
              </a:rPr>
              <a:t>Wieloosobowa gra planszowa online na kampusie Politechniki Białostockiej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70916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9B4C6"/>
                </a:solidFill>
                <a:latin typeface="Segoe UI"/>
              </a:rPr>
              <a:t>Rzuć kostką · kupuj akademiki · zgarnij czynsze · zostań rektorem majątku 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486400"/>
            <a:ext cx="2011680" cy="420624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550468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9A8E6"/>
                </a:solidFill>
                <a:latin typeface="Segoe UI"/>
              </a:rPr>
              <a:t>Plansza 3D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5486400"/>
            <a:ext cx="2377440" cy="420624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550468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C486"/>
                </a:solidFill>
                <a:latin typeface="Segoe UI"/>
              </a:rPr>
              <a:t>Do 4 graczy + boty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85232" y="5486400"/>
            <a:ext cx="2651760" cy="420624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85232" y="550468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B81E"/>
                </a:solidFill>
                <a:latin typeface="Segoe UI"/>
              </a:rPr>
              <a:t>Ranking ELO i skrzynki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5486400"/>
            <a:ext cx="3108960" cy="420624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550468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6CF0"/>
                </a:solidFill>
                <a:latin typeface="Segoe UI"/>
              </a:rPr>
              <a:t>Gra w czasie rzeczywistym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" y="5029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9A8E6"/>
                </a:solidFill>
                <a:latin typeface="Segoe UI"/>
              </a:rPr>
              <a:t>WPROWADZENIE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5FA"/>
                </a:solidFill>
                <a:latin typeface="Segoe UI"/>
              </a:rPr>
              <a:t>Czym jest Politechnika Monopoly?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554480" cy="411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9B4C6"/>
                </a:solidFill>
                <a:latin typeface="Segoe UI"/>
              </a:rPr>
              <a:t>Politechnika Monopoly  ·  Gra o Przetrwanie na kampusie 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9B4C6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1874519"/>
            <a:ext cx="64922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F2F5FA"/>
                </a:solidFill>
                <a:latin typeface="Segoe UI"/>
              </a:rPr>
              <a:t>To satyryczna wersja klasycznego Monopoly w stylu Business Tour, osadzona na kampusie PB.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endParaRPr sz="1700" b="0" i="0">
              <a:solidFill>
                <a:srgbClr val="F2F5FA"/>
              </a:solidFill>
              <a:latin typeface="Segoe UI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9B4C6"/>
                </a:solidFill>
                <a:latin typeface="Segoe UI"/>
              </a:rPr>
              <a:t>Kupujesz akademiki i wydziały, stawiasz domy i biurowce, pobierasz czynsz od rywali i grasz kartami akcji — aż ktoś zdominuje kampus.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endParaRPr sz="1500" b="0" i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9B4C6"/>
                </a:solidFill>
                <a:latin typeface="Segoe UI"/>
              </a:rPr>
              <a:t>Grasz w przeglądarce, na planszy 3D, ze znajomymi lub z botami — a Twoje wyniki budują profil i 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74519"/>
            <a:ext cx="4343400" cy="114300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0" y="1874519"/>
            <a:ext cx="73152" cy="114300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71232" y="2039111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40 pól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2" y="2478023"/>
            <a:ext cx="3886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Plansza «Kampus PB»: akademiki, wydziały,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kurorty, USOS, Dziekanat, podatki.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154680"/>
            <a:ext cx="4343400" cy="114300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0" y="3154680"/>
            <a:ext cx="73152" cy="1143000"/>
          </a:xfrm>
          <a:prstGeom prst="rect">
            <a:avLst/>
          </a:prstGeom>
          <a:solidFill>
            <a:srgbClr val="2E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71232" y="3319272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Do 4 graczy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2" y="3758184"/>
            <a:ext cx="3886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Gra ze znajomymi i/lub botami,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które grają same, gdy brakuje ludzi.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434840"/>
            <a:ext cx="4343400" cy="114300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0" y="4434840"/>
            <a:ext cx="73152" cy="1143000"/>
          </a:xfrm>
          <a:prstGeom prst="rect">
            <a:avLst/>
          </a:prstGeom>
          <a:solidFill>
            <a:srgbClr val="F5B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71232" y="4599432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Metagame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2" y="5038344"/>
            <a:ext cx="3886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Profil, ranking ELO, poziomy, monety,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skrzynki, koło fortuny i osiągnięcia.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" y="5029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9A8E6"/>
                </a:solidFill>
                <a:latin typeface="Segoe UI"/>
              </a:rPr>
              <a:t>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5FA"/>
                </a:solidFill>
                <a:latin typeface="Segoe UI"/>
              </a:rPr>
              <a:t>Pierwsze kroki: konto i logowanie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554480" cy="411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9B4C6"/>
                </a:solidFill>
                <a:latin typeface="Segoe UI"/>
              </a:rPr>
              <a:t>Politechnika Monopoly  ·  Gra o Przetrwanie na kampusie 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9B4C6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1920240"/>
            <a:ext cx="3566160" cy="338328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7" y="1920240"/>
            <a:ext cx="73152" cy="338328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39" y="208483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1 · Rejestracja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" y="2523744"/>
            <a:ext cx="310896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Załóż konto na stronie /register.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Podajesz login, e-mail, imię,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nazwisko, wiek (min. 18 lat) i hasło.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Formularz pilnuje poprawności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danych na bieżąco.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920240"/>
            <a:ext cx="3566160" cy="338328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1920240"/>
            <a:ext cx="73152" cy="3383280"/>
          </a:xfrm>
          <a:prstGeom prst="rect">
            <a:avLst/>
          </a:prstGeom>
          <a:solidFill>
            <a:srgbClr val="2E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08483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2 · Logowanie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23744"/>
            <a:ext cx="310896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Logujesz się bezpiecznie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(hasła szyfrowane, role kont).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Po zalogowaniu trafiasz prosto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na swój pulpit (dashboard).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Konto startuje z 1000 monet.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7" y="1920240"/>
            <a:ext cx="3547872" cy="338328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0727" y="1920240"/>
            <a:ext cx="73152" cy="3383280"/>
          </a:xfrm>
          <a:prstGeom prst="rect">
            <a:avLst/>
          </a:prstGeom>
          <a:solidFill>
            <a:srgbClr val="F5B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59" y="2084832"/>
            <a:ext cx="3090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3 · Awatar gratis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2523744"/>
            <a:ext cx="3090672" cy="1282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 err="1">
                <a:solidFill>
                  <a:srgbClr val="A9B4C6"/>
                </a:solidFill>
                <a:latin typeface="Segoe UI"/>
              </a:rPr>
              <a:t>Jeśli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nie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masz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zdjęcia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,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gra</a:t>
            </a:r>
            <a:endParaRPr sz="1300" b="0" i="0" dirty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 err="1">
                <a:solidFill>
                  <a:srgbClr val="A9B4C6"/>
                </a:solidFill>
                <a:latin typeface="Segoe UI"/>
              </a:rPr>
              <a:t>automatycznie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dobierze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Ci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awatar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300" b="0" i="0" dirty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A9B4C6"/>
                </a:solidFill>
                <a:latin typeface="Segoe UI"/>
              </a:rPr>
              <a:t>W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Ustawieniach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zmienisz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avatar,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 err="1">
                <a:solidFill>
                  <a:srgbClr val="A9B4C6"/>
                </a:solidFill>
                <a:latin typeface="Segoe UI"/>
              </a:rPr>
              <a:t>baner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,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tło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profilu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i</a:t>
            </a:r>
            <a:r>
              <a:rPr sz="1300" b="0" i="0">
                <a:solidFill>
                  <a:srgbClr val="A9B4C6"/>
                </a:solidFill>
                <a:latin typeface="Segoe UI"/>
              </a:rPr>
              <a:t> bio</a:t>
            </a:r>
            <a:endParaRPr sz="1300" b="0" i="0" dirty="0">
              <a:solidFill>
                <a:srgbClr val="A9B4C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" y="5029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9A8E6"/>
                </a:solidFill>
                <a:latin typeface="Segoe UI"/>
              </a:rPr>
              <a:t>TWÓJ PROFIL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11247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dirty="0">
                <a:solidFill>
                  <a:srgbClr val="F2F5FA"/>
                </a:solidFill>
                <a:latin typeface="Segoe UI"/>
              </a:rPr>
              <a:t>Pulpit </a:t>
            </a:r>
            <a:r>
              <a:rPr sz="3000" b="1" i="0" dirty="0" err="1">
                <a:solidFill>
                  <a:srgbClr val="F2F5FA"/>
                </a:solidFill>
                <a:latin typeface="Segoe UI"/>
              </a:rPr>
              <a:t>gracz</a:t>
            </a:r>
            <a:r>
              <a:rPr lang="pl-PL" sz="3000" b="1" i="0" dirty="0">
                <a:solidFill>
                  <a:srgbClr val="F2F5FA"/>
                </a:solidFill>
                <a:latin typeface="Segoe UI"/>
              </a:rPr>
              <a:t>a</a:t>
            </a:r>
            <a:endParaRPr sz="3000" b="1" i="0" dirty="0">
              <a:solidFill>
                <a:srgbClr val="F2F5FA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554480" cy="411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9B4C6"/>
                </a:solidFill>
                <a:latin typeface="Segoe UI"/>
              </a:rPr>
              <a:t>Politechnika Monopoly  ·  Gra o Przetrwanie na kampusie 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9B4C6"/>
                </a:solidFill>
                <a:latin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1874519"/>
            <a:ext cx="603504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dirty="0">
                <a:solidFill>
                  <a:srgbClr val="29A8E6"/>
                </a:solidFill>
                <a:latin typeface="Segoe UI"/>
              </a:rPr>
              <a:t>▸  </a:t>
            </a:r>
            <a:r>
              <a:rPr sz="1550" b="1" i="0" dirty="0" err="1">
                <a:solidFill>
                  <a:srgbClr val="F2F5FA"/>
                </a:solidFill>
                <a:latin typeface="Segoe UI"/>
              </a:rPr>
              <a:t>Poziom</a:t>
            </a:r>
            <a:r>
              <a:rPr sz="1550" b="1" i="0" dirty="0">
                <a:solidFill>
                  <a:srgbClr val="F2F5FA"/>
                </a:solidFill>
                <a:latin typeface="Segoe UI"/>
              </a:rPr>
              <a:t> </a:t>
            </a:r>
            <a:r>
              <a:rPr sz="1550" b="1" i="0" dirty="0" err="1">
                <a:solidFill>
                  <a:srgbClr val="F2F5FA"/>
                </a:solidFill>
                <a:latin typeface="Segoe UI"/>
              </a:rPr>
              <a:t>i</a:t>
            </a:r>
            <a:r>
              <a:rPr sz="1550" b="1" i="0" dirty="0">
                <a:solidFill>
                  <a:srgbClr val="F2F5FA"/>
                </a:solidFill>
                <a:latin typeface="Segoe UI"/>
              </a:rPr>
              <a:t> ELO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 dirty="0">
                <a:solidFill>
                  <a:srgbClr val="A9B4C6"/>
                </a:solidFill>
                <a:latin typeface="Segoe UI"/>
              </a:rPr>
              <a:t>    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Twoja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siła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w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rankingu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—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rośnie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z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wygranymi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dirty="0">
                <a:solidFill>
                  <a:srgbClr val="29A8E6"/>
                </a:solidFill>
                <a:latin typeface="Segoe UI"/>
              </a:rPr>
              <a:t>▸  </a:t>
            </a:r>
            <a:r>
              <a:rPr sz="1550" b="1" i="0" dirty="0">
                <a:solidFill>
                  <a:srgbClr val="F2F5FA"/>
                </a:solidFill>
                <a:latin typeface="Segoe UI"/>
              </a:rPr>
              <a:t>Win rate </a:t>
            </a:r>
            <a:r>
              <a:rPr sz="1550" b="1" i="0" dirty="0" err="1">
                <a:solidFill>
                  <a:srgbClr val="F2F5FA"/>
                </a:solidFill>
                <a:latin typeface="Segoe UI"/>
              </a:rPr>
              <a:t>i</a:t>
            </a:r>
            <a:r>
              <a:rPr sz="1550" b="1" i="0" dirty="0">
                <a:solidFill>
                  <a:srgbClr val="F2F5FA"/>
                </a:solidFill>
                <a:latin typeface="Segoe UI"/>
              </a:rPr>
              <a:t> seria </a:t>
            </a:r>
            <a:r>
              <a:rPr sz="1550" b="1" i="0" dirty="0" err="1">
                <a:solidFill>
                  <a:srgbClr val="F2F5FA"/>
                </a:solidFill>
                <a:latin typeface="Segoe UI"/>
              </a:rPr>
              <a:t>zwycięstw</a:t>
            </a:r>
            <a:endParaRPr sz="1550" b="1" i="0" dirty="0">
              <a:solidFill>
                <a:srgbClr val="F2F5F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 dirty="0">
                <a:solidFill>
                  <a:srgbClr val="A9B4C6"/>
                </a:solidFill>
                <a:latin typeface="Segoe UI"/>
              </a:rPr>
              <a:t>    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Procent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wygranych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i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aktualna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passa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dirty="0">
                <a:solidFill>
                  <a:srgbClr val="29A8E6"/>
                </a:solidFill>
                <a:latin typeface="Segoe UI"/>
              </a:rPr>
              <a:t>▸  </a:t>
            </a:r>
            <a:r>
              <a:rPr sz="1550" b="1" i="0" dirty="0">
                <a:solidFill>
                  <a:srgbClr val="F2F5FA"/>
                </a:solidFill>
                <a:latin typeface="Segoe UI"/>
              </a:rPr>
              <a:t>Historia </a:t>
            </a:r>
            <a:r>
              <a:rPr sz="1550" b="1" i="0" dirty="0" err="1">
                <a:solidFill>
                  <a:srgbClr val="F2F5FA"/>
                </a:solidFill>
                <a:latin typeface="Segoe UI"/>
              </a:rPr>
              <a:t>meczów</a:t>
            </a:r>
            <a:endParaRPr sz="1550" b="1" i="0" dirty="0">
              <a:solidFill>
                <a:srgbClr val="F2F5F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 dirty="0">
                <a:solidFill>
                  <a:srgbClr val="A9B4C6"/>
                </a:solidFill>
                <a:latin typeface="Segoe UI"/>
              </a:rPr>
              <a:t>    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Ostatnie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gry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: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miejsce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,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kasa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,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zmiana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ELO,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czas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dirty="0">
                <a:solidFill>
                  <a:srgbClr val="29A8E6"/>
                </a:solidFill>
                <a:latin typeface="Segoe UI"/>
              </a:rPr>
              <a:t>▸  </a:t>
            </a:r>
            <a:r>
              <a:rPr sz="1550" b="1" i="0" dirty="0" err="1">
                <a:solidFill>
                  <a:srgbClr val="F2F5FA"/>
                </a:solidFill>
                <a:latin typeface="Segoe UI"/>
              </a:rPr>
              <a:t>Osiągnięcia</a:t>
            </a:r>
            <a:endParaRPr sz="1550" b="1" i="0" dirty="0">
              <a:solidFill>
                <a:srgbClr val="F2F5F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 dirty="0">
                <a:solidFill>
                  <a:srgbClr val="A9B4C6"/>
                </a:solidFill>
                <a:latin typeface="Segoe UI"/>
              </a:rPr>
              <a:t>    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Odznaki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z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nagrodą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w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monetach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dirty="0">
                <a:solidFill>
                  <a:srgbClr val="29A8E6"/>
                </a:solidFill>
                <a:latin typeface="Segoe UI"/>
              </a:rPr>
              <a:t>▸  </a:t>
            </a:r>
            <a:r>
              <a:rPr sz="1550" b="1" i="0" dirty="0" err="1">
                <a:solidFill>
                  <a:srgbClr val="F2F5FA"/>
                </a:solidFill>
                <a:latin typeface="Segoe UI"/>
              </a:rPr>
              <a:t>Szybki</a:t>
            </a:r>
            <a:r>
              <a:rPr sz="1550" b="1" i="0" dirty="0">
                <a:solidFill>
                  <a:srgbClr val="F2F5FA"/>
                </a:solidFill>
                <a:latin typeface="Segoe UI"/>
              </a:rPr>
              <a:t> </a:t>
            </a:r>
            <a:r>
              <a:rPr sz="1550" b="1" i="0" dirty="0" err="1">
                <a:solidFill>
                  <a:srgbClr val="F2F5FA"/>
                </a:solidFill>
                <a:latin typeface="Segoe UI"/>
              </a:rPr>
              <a:t>dostęp</a:t>
            </a:r>
            <a:endParaRPr sz="1550" b="1" i="0" dirty="0">
              <a:solidFill>
                <a:srgbClr val="F2F5F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 dirty="0">
                <a:solidFill>
                  <a:srgbClr val="A9B4C6"/>
                </a:solidFill>
                <a:latin typeface="Segoe UI"/>
              </a:rPr>
              <a:t>    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Wejście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do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gry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,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koła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fortuny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i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A9B4C6"/>
                </a:solidFill>
                <a:latin typeface="Segoe UI"/>
              </a:rPr>
              <a:t>sklepu</a:t>
            </a:r>
            <a:r>
              <a:rPr sz="1300" b="0" i="0" dirty="0">
                <a:solidFill>
                  <a:srgbClr val="A9B4C6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874519"/>
            <a:ext cx="4617720" cy="416052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40880" y="1874519"/>
            <a:ext cx="4617720" cy="1051560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0" y="2130551"/>
            <a:ext cx="566928" cy="566928"/>
          </a:xfrm>
          <a:prstGeom prst="round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2093975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2F5FA"/>
                </a:solidFill>
                <a:latin typeface="Segoe UI"/>
              </a:rPr>
              <a:t>gracz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9B4C6"/>
                </a:solidFill>
                <a:latin typeface="Segoe UI"/>
              </a:rPr>
              <a:t>Grzegorz Graczewski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3200399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29A8E6"/>
                </a:solidFill>
                <a:latin typeface="Segoe UI"/>
              </a:rPr>
              <a:t>LVL 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621023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A9B4C6"/>
                </a:solidFill>
                <a:latin typeface="Segoe UI"/>
              </a:rPr>
              <a:t>Poziom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399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F5B81E"/>
                </a:solidFill>
                <a:latin typeface="Segoe UI"/>
              </a:rPr>
              <a:t>1430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2" y="3621023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A9B4C6"/>
                </a:solidFill>
                <a:latin typeface="Segoe UI"/>
              </a:rPr>
              <a:t>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200399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2EC486"/>
                </a:solidFill>
                <a:latin typeface="Segoe UI"/>
              </a:rPr>
              <a:t>61%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621023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A9B4C6"/>
                </a:solidFill>
                <a:latin typeface="Segoe UI"/>
              </a:rPr>
              <a:t>Win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160519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9B4C6"/>
                </a:solidFill>
                <a:latin typeface="Segoe UI"/>
              </a:rPr>
              <a:t>OSTATNIE MECZE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544567"/>
            <a:ext cx="4069080" cy="384048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52360" y="4581143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C486"/>
                </a:solidFill>
                <a:latin typeface="Segoe UI"/>
              </a:rPr>
              <a:t>WYGRANA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581143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A9B4C6"/>
                </a:solidFill>
                <a:latin typeface="Segoe UI"/>
              </a:rPr>
              <a:t>Kampus PB · +24 ELO · 41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5001767"/>
            <a:ext cx="4069080" cy="384048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52360" y="5038343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A362C"/>
                </a:solidFill>
                <a:latin typeface="Segoe UI"/>
              </a:rPr>
              <a:t>PORAŻKA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5038343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A9B4C6"/>
                </a:solidFill>
                <a:latin typeface="Segoe UI"/>
              </a:rPr>
              <a:t>Kampus PB · −18 ELO · 27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5458967"/>
            <a:ext cx="4069080" cy="384048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52360" y="5495543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C486"/>
                </a:solidFill>
                <a:latin typeface="Segoe UI"/>
              </a:rPr>
              <a:t>WYGRANA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5495543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A9B4C6"/>
                </a:solidFill>
                <a:latin typeface="Segoe UI"/>
              </a:rPr>
              <a:t>Kampus PB · +28 ELO · 55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" y="5029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9A8E6"/>
                </a:solidFill>
                <a:latin typeface="Segoe UI"/>
              </a:rPr>
              <a:t>ROZGRYWKA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5FA"/>
                </a:solidFill>
                <a:latin typeface="Segoe UI"/>
              </a:rPr>
              <a:t>Plansza 3D „Kampus PB”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554480" cy="411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9B4C6"/>
                </a:solidFill>
                <a:latin typeface="Segoe UI"/>
              </a:rPr>
              <a:t>Politechnika Monopoly  ·  Gra o Przetrwanie na kampusie 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9B4C6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182880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F2F5FA"/>
                </a:solidFill>
                <a:latin typeface="Segoe UI"/>
              </a:rPr>
              <a:t>Cała gra toczy się na efektownej, trójwymiarowej planszy. Pionki poruszają się animowanie, kostka się toczy, a wszystko aktualizuje się na żywo u każdego gracza.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7" y="2788920"/>
            <a:ext cx="2761488" cy="137160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1207" y="2788920"/>
            <a:ext cx="73152" cy="137160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39" y="2953512"/>
            <a:ext cx="23042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Widok 3D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" y="3392424"/>
            <a:ext cx="23042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Obracana plansza z modelami pionków.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2423" y="2788920"/>
            <a:ext cx="2761488" cy="137160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92423" y="2788920"/>
            <a:ext cx="73152" cy="1371600"/>
          </a:xfrm>
          <a:prstGeom prst="rect">
            <a:avLst/>
          </a:prstGeom>
          <a:solidFill>
            <a:srgbClr val="2E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48455" y="2953512"/>
            <a:ext cx="23042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Na żywo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5" y="3392424"/>
            <a:ext cx="23042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Ruchy rywali widać natychmiast.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39" y="2788920"/>
            <a:ext cx="2761488" cy="137160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39" y="2788920"/>
            <a:ext cx="73152" cy="1371600"/>
          </a:xfrm>
          <a:prstGeom prst="rect">
            <a:avLst/>
          </a:prstGeom>
          <a:solidFill>
            <a:srgbClr val="F5B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9671" y="2953512"/>
            <a:ext cx="23042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Panele decyzji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1" y="3392424"/>
            <a:ext cx="23042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Kup, ulepsz, zapłać — w okienkach.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34855" y="2788920"/>
            <a:ext cx="2761488" cy="137160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34855" y="2788920"/>
            <a:ext cx="73152" cy="1371600"/>
          </a:xfrm>
          <a:prstGeom prst="rect">
            <a:avLst/>
          </a:prstGeom>
          <a:solidFill>
            <a:srgbClr val="A8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90887" y="2953512"/>
            <a:ext cx="23042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Zegar meczu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7" y="3392424"/>
            <a:ext cx="23042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Odliczanie do limitu 60 minut.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452628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A9B4C6"/>
                </a:solidFill>
                <a:latin typeface="Segoe UI"/>
              </a:rPr>
              <a:t>DODATKOWE SMACZKI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F2F5FA"/>
                </a:solidFill>
                <a:latin typeface="Segoe UI"/>
              </a:rPr>
              <a:t>• Emotki/reakcje w trakcie gry   • Zakładane skiny pionków i kolory   • Modale wylosowanych kart   • Alerty „ktoś blisko wygranej”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" y="5029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9A8E6"/>
                </a:solidFill>
                <a:latin typeface="Segoe UI"/>
              </a:rPr>
              <a:t>ZASADY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5FA"/>
                </a:solidFill>
                <a:latin typeface="Segoe UI"/>
              </a:rPr>
              <a:t>Twoja tura krok po kroku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554480" cy="411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9B4C6"/>
                </a:solidFill>
                <a:latin typeface="Segoe UI"/>
              </a:rPr>
              <a:t>Politechnika Monopoly  ·  Gra o Przetrwanie na kampusie 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9B4C6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1874519"/>
            <a:ext cx="822960" cy="868680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7" y="1920239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29A8E6"/>
                </a:solidFill>
                <a:latin typeface="Segoe U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1874519"/>
            <a:ext cx="10195560" cy="86868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481328" y="1874519"/>
            <a:ext cx="73152" cy="86868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83080" y="1984247"/>
            <a:ext cx="9692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2F5FA"/>
                </a:solidFill>
                <a:latin typeface="Segoe UI"/>
              </a:rPr>
              <a:t>Rzuć kostką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Dwie kostki ruszają pionek. Dublet = dodatkowy rzut!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7" y="2944367"/>
            <a:ext cx="822960" cy="868680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7" y="2990087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2EC486"/>
                </a:solidFill>
                <a:latin typeface="Segoe U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1328" y="2944367"/>
            <a:ext cx="10195560" cy="86868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481328" y="2944367"/>
            <a:ext cx="73152" cy="868680"/>
          </a:xfrm>
          <a:prstGeom prst="rect">
            <a:avLst/>
          </a:prstGeom>
          <a:solidFill>
            <a:srgbClr val="2E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3080" y="3054095"/>
            <a:ext cx="9692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2F5FA"/>
                </a:solidFill>
                <a:latin typeface="Segoe UI"/>
              </a:rPr>
              <a:t>Wyląduj na polu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Wolne? Możesz kupić. Cudze? Płacisz czynsz.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7" y="4014215"/>
            <a:ext cx="822960" cy="868680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7" y="4059935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5B81E"/>
                </a:solidFill>
                <a:latin typeface="Segoe U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81328" y="4014215"/>
            <a:ext cx="10195560" cy="86868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481328" y="4014215"/>
            <a:ext cx="73152" cy="868680"/>
          </a:xfrm>
          <a:prstGeom prst="rect">
            <a:avLst/>
          </a:prstGeom>
          <a:solidFill>
            <a:srgbClr val="F5B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83080" y="4123943"/>
            <a:ext cx="9692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2F5FA"/>
                </a:solidFill>
                <a:latin typeface="Segoe UI"/>
              </a:rPr>
              <a:t>Buduj i ulepszaj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Na swoim polu: dom → 2 domy → 3 domy → biurowiec.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" y="5084063"/>
            <a:ext cx="822960" cy="868680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7" y="5129783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A86CF0"/>
                </a:solidFill>
                <a:latin typeface="Segoe U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81328" y="5084063"/>
            <a:ext cx="10195560" cy="86868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481328" y="5084063"/>
            <a:ext cx="73152" cy="868680"/>
          </a:xfrm>
          <a:prstGeom prst="rect">
            <a:avLst/>
          </a:prstGeom>
          <a:solidFill>
            <a:srgbClr val="A8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83080" y="5193791"/>
            <a:ext cx="9692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2F5FA"/>
                </a:solidFill>
                <a:latin typeface="Segoe UI"/>
              </a:rPr>
              <a:t>Zagraj kartę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10 kart akcji: tarcza, +kasa, przejęcie pola i więcej.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" y="5029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9A8E6"/>
                </a:solidFill>
                <a:latin typeface="Segoe UI"/>
              </a:rPr>
              <a:t>PLANSZA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5FA"/>
                </a:solidFill>
                <a:latin typeface="Segoe UI"/>
              </a:rPr>
              <a:t>Co spotkasz na 40 polach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554480" cy="411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9B4C6"/>
                </a:solidFill>
                <a:latin typeface="Segoe UI"/>
              </a:rPr>
              <a:t>Politechnika Monopoly  ·  Gra o Przetrwanie na kampusie 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9B4C6"/>
                </a:solidFill>
                <a:latin typeface="Segoe U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1874519"/>
            <a:ext cx="5532120" cy="96012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7" y="1874519"/>
            <a:ext cx="73152" cy="96012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39" y="2039111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Akademiki i wydziały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" y="2478023"/>
            <a:ext cx="5074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9B4C6"/>
                </a:solidFill>
                <a:latin typeface="Segoe UI"/>
              </a:rPr>
              <a:t>Zwykłe nieruchomości — kup i pobieraj czynsz.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874519"/>
            <a:ext cx="5532120" cy="96012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7" y="1874519"/>
            <a:ext cx="73152" cy="960120"/>
          </a:xfrm>
          <a:prstGeom prst="rect">
            <a:avLst/>
          </a:prstGeom>
          <a:solidFill>
            <a:srgbClr val="2E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39" y="2039111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Kurorty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2478023"/>
            <a:ext cx="5074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9B4C6"/>
                </a:solidFill>
                <a:latin typeface="Segoe UI"/>
              </a:rPr>
              <a:t>5 / 15 / 25 / 35 — czynsz rośnie z ich liczbą.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7" y="2999231"/>
            <a:ext cx="5532120" cy="96012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1207" y="2999231"/>
            <a:ext cx="73152" cy="960120"/>
          </a:xfrm>
          <a:prstGeom prst="rect">
            <a:avLst/>
          </a:prstGeom>
          <a:solidFill>
            <a:srgbClr val="F5B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39" y="3163823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USOS — Karta Szansy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3602735"/>
            <a:ext cx="5074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9B4C6"/>
                </a:solidFill>
                <a:latin typeface="Segoe UI"/>
              </a:rPr>
              <a:t>Losowe zdarzenie: stypendium albo mandat.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7" y="2999231"/>
            <a:ext cx="5532120" cy="96012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36207" y="2999231"/>
            <a:ext cx="73152" cy="960120"/>
          </a:xfrm>
          <a:prstGeom prst="rect">
            <a:avLst/>
          </a:prstGeom>
          <a:solidFill>
            <a:srgbClr val="2E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39" y="3163823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Kasa Studencka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39" y="3602735"/>
            <a:ext cx="5074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9B4C6"/>
                </a:solidFill>
                <a:latin typeface="Segoe UI"/>
              </a:rPr>
              <a:t>Stypendium — zastrzyk gotówki +150 000.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7" y="4123943"/>
            <a:ext cx="5532120" cy="96012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21207" y="4123943"/>
            <a:ext cx="73152" cy="96012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39" y="4288535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Dziekanat (więzienie)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39" y="4727447"/>
            <a:ext cx="5074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9B4C6"/>
                </a:solidFill>
                <a:latin typeface="Segoe UI"/>
              </a:rPr>
              <a:t>Łapówka 200 000 — chyba że masz przepustkę.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7" y="4123943"/>
            <a:ext cx="5532120" cy="96012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36207" y="4123943"/>
            <a:ext cx="73152" cy="96012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39" y="4288535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Podatek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39" y="4727447"/>
            <a:ext cx="5074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9B4C6"/>
                </a:solidFill>
                <a:latin typeface="Segoe UI"/>
              </a:rPr>
              <a:t>10% wartości Twojego majątku do banku.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1207" y="5248655"/>
            <a:ext cx="5532120" cy="96012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21207" y="5248655"/>
            <a:ext cx="73152" cy="96012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39" y="5413247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START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39" y="5852159"/>
            <a:ext cx="5074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9B4C6"/>
                </a:solidFill>
                <a:latin typeface="Segoe UI"/>
              </a:rPr>
              <a:t>Przejście przez START = +300 000 PLN.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6207" y="5248655"/>
            <a:ext cx="5532120" cy="96012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36207" y="5248655"/>
            <a:ext cx="73152" cy="960120"/>
          </a:xfrm>
          <a:prstGeom prst="rect">
            <a:avLst/>
          </a:prstGeom>
          <a:solidFill>
            <a:srgbClr val="A8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39" y="5413247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Gastro / media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39" y="5852159"/>
            <a:ext cx="5074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9B4C6"/>
                </a:solidFill>
                <a:latin typeface="Segoe UI"/>
              </a:rPr>
              <a:t>Czynsz zależny od wyniku rzutu kostką.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" y="5029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9A8E6"/>
                </a:solidFill>
                <a:latin typeface="Segoe UI"/>
              </a:rPr>
              <a:t>KARTY AKCJI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5FA"/>
                </a:solidFill>
                <a:latin typeface="Segoe UI"/>
              </a:rPr>
              <a:t>10 kart, które zmieniają grę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554480" cy="411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9B4C6"/>
                </a:solidFill>
                <a:latin typeface="Segoe UI"/>
              </a:rPr>
              <a:t>Politechnika Monopoly  ·  Gra o Przetrwanie na kampusie 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9B4C6"/>
                </a:solidFill>
                <a:latin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18288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2F5FA"/>
                </a:solidFill>
                <a:latin typeface="Segoe UI"/>
              </a:rPr>
              <a:t>Każdy gracz zaczyna mecz z trzema kartami w ręce. Zagrywasz je w kluczowym momencie: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7" y="2377440"/>
            <a:ext cx="5532120" cy="841248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1207" y="2377440"/>
            <a:ext cx="73152" cy="841248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1" y="2496312"/>
            <a:ext cx="5166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Tarcza Akademicka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A9B4C6"/>
                </a:solidFill>
                <a:latin typeface="Segoe UI"/>
              </a:rPr>
              <a:t>Bank pokrywa nagłą opłatę do 300 000.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2377440"/>
            <a:ext cx="5532120" cy="841248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7" y="2377440"/>
            <a:ext cx="73152" cy="841248"/>
          </a:xfrm>
          <a:prstGeom prst="rect">
            <a:avLst/>
          </a:prstGeom>
          <a:solidFill>
            <a:srgbClr val="F5B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1" y="2496312"/>
            <a:ext cx="5166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Stypendium Rektora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A9B4C6"/>
                </a:solidFill>
                <a:latin typeface="Segoe UI"/>
              </a:rPr>
              <a:t>Natychmiastowe +300 000 PLN.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" y="3346704"/>
            <a:ext cx="5532120" cy="841248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1207" y="3346704"/>
            <a:ext cx="73152" cy="8412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1" y="3465576"/>
            <a:ext cx="5166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Dekret Wywłaszczeniowy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A9B4C6"/>
                </a:solidFill>
                <a:latin typeface="Segoe UI"/>
              </a:rPr>
              <a:t>Przejmij pole rywala (może odkupić ×2).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3346704"/>
            <a:ext cx="5532120" cy="841248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7" y="3346704"/>
            <a:ext cx="73152" cy="841248"/>
          </a:xfrm>
          <a:prstGeom prst="rect">
            <a:avLst/>
          </a:prstGeom>
          <a:solidFill>
            <a:srgbClr val="2E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1" y="3465576"/>
            <a:ext cx="5166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Dodatkowy Rzut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A9B4C6"/>
                </a:solidFill>
                <a:latin typeface="Segoe UI"/>
              </a:rPr>
              <a:t>Rzucasz kostką jeszcze raz.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7" y="4315968"/>
            <a:ext cx="5532120" cy="841248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1207" y="4315968"/>
            <a:ext cx="73152" cy="841248"/>
          </a:xfrm>
          <a:prstGeom prst="rect">
            <a:avLst/>
          </a:prstGeom>
          <a:solidFill>
            <a:srgbClr val="A8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1" y="4434840"/>
            <a:ext cx="5166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Podwójny Wymagacz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A9B4C6"/>
                </a:solidFill>
                <a:latin typeface="Segoe UI"/>
              </a:rPr>
              <a:t>Następny czynsz od rywala ×2.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7" y="4315968"/>
            <a:ext cx="5532120" cy="841248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36207" y="4315968"/>
            <a:ext cx="73152" cy="841248"/>
          </a:xfrm>
          <a:prstGeom prst="rect">
            <a:avLst/>
          </a:prstGeom>
          <a:solidFill>
            <a:srgbClr val="F5B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1" y="4434840"/>
            <a:ext cx="5166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Zbiorowe Stypendium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A9B4C6"/>
                </a:solidFill>
                <a:latin typeface="Segoe UI"/>
              </a:rPr>
              <a:t>Każdy rywal płaci Ci 100 000.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7" y="5285232"/>
            <a:ext cx="5532120" cy="841248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1207" y="5285232"/>
            <a:ext cx="73152" cy="841248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1" y="5404104"/>
            <a:ext cx="5166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Teleport Kampusowy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A9B4C6"/>
                </a:solidFill>
                <a:latin typeface="Segoe UI"/>
              </a:rPr>
              <a:t>Przenieś pionek na dowolne pole.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7" y="5285232"/>
            <a:ext cx="5532120" cy="841248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36207" y="5285232"/>
            <a:ext cx="73152" cy="841248"/>
          </a:xfrm>
          <a:prstGeom prst="rect">
            <a:avLst/>
          </a:prstGeom>
          <a:solidFill>
            <a:srgbClr val="2E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1" y="5404104"/>
            <a:ext cx="5166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Przepustka z Dziekanatu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A9B4C6"/>
                </a:solidFill>
                <a:latin typeface="Segoe UI"/>
              </a:rPr>
              <a:t>Pomijasz opłatę w więzieniu.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" y="5029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9A8E6"/>
                </a:solidFill>
                <a:latin typeface="Segoe UI"/>
              </a:rPr>
              <a:t>CEL GRY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5FA"/>
                </a:solidFill>
                <a:latin typeface="Segoe UI"/>
              </a:rPr>
              <a:t>Cztery drogi do zwycięstwa 🏆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554480" cy="411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9B4C6"/>
                </a:solidFill>
                <a:latin typeface="Segoe UI"/>
              </a:rPr>
              <a:t>Politechnika Monopoly  ·  Gra o Przetrwanie na kampusie 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9B4C6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2011680"/>
            <a:ext cx="5532120" cy="146304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7" y="2011680"/>
            <a:ext cx="91440" cy="14630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" y="2212848"/>
            <a:ext cx="8229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29A8E6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7" y="2286000"/>
            <a:ext cx="4069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2F5FA"/>
                </a:solidFill>
                <a:latin typeface="Segoe UI"/>
              </a:rPr>
              <a:t>Monopol totalny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9B4C6"/>
                </a:solidFill>
                <a:latin typeface="Segoe UI"/>
              </a:rPr>
              <a:t>Zdobądź 3 pełne grupy kolorystyczne.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2011680"/>
            <a:ext cx="5532120" cy="146304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7" y="2011680"/>
            <a:ext cx="91440" cy="1463040"/>
          </a:xfrm>
          <a:prstGeom prst="rect">
            <a:avLst/>
          </a:prstGeom>
          <a:solidFill>
            <a:srgbClr val="2E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7" y="2212848"/>
            <a:ext cx="8229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2EC486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7" y="2286000"/>
            <a:ext cx="4069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2F5FA"/>
                </a:solidFill>
                <a:latin typeface="Segoe UI"/>
              </a:rPr>
              <a:t>Imperium kurortów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9B4C6"/>
                </a:solidFill>
                <a:latin typeface="Segoe UI"/>
              </a:rPr>
              <a:t>Wykup wszystkie 4 kurorty kampusu.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7" y="3703320"/>
            <a:ext cx="5532120" cy="146304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1207" y="3703320"/>
            <a:ext cx="91440" cy="14630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7" y="3904488"/>
            <a:ext cx="8229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EA362C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7" y="3977640"/>
            <a:ext cx="4069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2F5FA"/>
                </a:solidFill>
                <a:latin typeface="Segoe UI"/>
              </a:rPr>
              <a:t>Ostatni na nogach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9B4C6"/>
                </a:solidFill>
                <a:latin typeface="Segoe UI"/>
              </a:rPr>
              <a:t>Doprowadź rywali do bankructwa.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7" y="3703320"/>
            <a:ext cx="5532120" cy="146304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36207" y="3703320"/>
            <a:ext cx="91440" cy="1463040"/>
          </a:xfrm>
          <a:prstGeom prst="rect">
            <a:avLst/>
          </a:prstGeom>
          <a:solidFill>
            <a:srgbClr val="F5B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7" y="3904488"/>
            <a:ext cx="8229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5B81E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7" y="3977640"/>
            <a:ext cx="4069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2F5FA"/>
                </a:solidFill>
                <a:latin typeface="Segoe UI"/>
              </a:rPr>
              <a:t>Najbogatszy po czasie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9B4C6"/>
                </a:solidFill>
                <a:latin typeface="Segoe UI"/>
              </a:rPr>
              <a:t>Po 60 minutach wygrywa największy majątek.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" y="544068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A9B4C6"/>
                </a:solidFill>
                <a:latin typeface="Segoe UI"/>
              </a:rPr>
              <a:t>Gra ostrzega wszystkich, gdy ktoś jest blisko wygranej — wtedy trzeba działać szybko!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" y="5029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9A8E6"/>
                </a:solidFill>
                <a:latin typeface="Segoe UI"/>
              </a:rPr>
              <a:t>TRYB WIELOOSOBOWY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5FA"/>
                </a:solidFill>
                <a:latin typeface="Segoe UI"/>
              </a:rPr>
              <a:t>Graj ze znajomymi lub botami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554480" cy="411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9B4C6"/>
                </a:solidFill>
                <a:latin typeface="Segoe UI"/>
              </a:rPr>
              <a:t>Politechnika Monopoly  ·  Gra o Przetrwanie na kampusie 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9B4C6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1874519"/>
            <a:ext cx="59436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 i="0">
                <a:solidFill>
                  <a:srgbClr val="29A8E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2F5FA"/>
                </a:solidFill>
                <a:latin typeface="Segoe UI"/>
              </a:rPr>
              <a:t>Stwórz pokój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     Załóż własny stół gry jednym kliknięciem.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 i="0">
                <a:solidFill>
                  <a:srgbClr val="29A8E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2F5FA"/>
                </a:solidFill>
                <a:latin typeface="Segoe UI"/>
              </a:rPr>
              <a:t>Zaproś znajomych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     Wyślij zaproszenie znajomemu — dostanie powiadomienie.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 i="0">
                <a:solidFill>
                  <a:srgbClr val="29A8E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2F5FA"/>
                </a:solidFill>
                <a:latin typeface="Segoe UI"/>
              </a:rPr>
              <a:t>Dołącz po kodzie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     Każdy pokój ma 6-znakowy kod do udostępnienia.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 i="0">
                <a:solidFill>
                  <a:srgbClr val="29A8E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2F5FA"/>
                </a:solidFill>
                <a:latin typeface="Segoe UI"/>
              </a:rPr>
              <a:t>Dodaj boty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     Brakuje ludzi? Dodaj boty — grają samodzielnie.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 i="0">
                <a:solidFill>
                  <a:srgbClr val="29A8E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2F5FA"/>
                </a:solidFill>
                <a:latin typeface="Segoe UI"/>
              </a:rPr>
              <a:t>Gotowość i start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     Lider startuje grę, gdy wszyscy są gotowi.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874519"/>
            <a:ext cx="4800600" cy="182880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0" y="1874519"/>
            <a:ext cx="73152" cy="1828800"/>
          </a:xfrm>
          <a:prstGeom prst="rect">
            <a:avLst/>
          </a:prstGeom>
          <a:solidFill>
            <a:srgbClr val="2E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14032" y="2039111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Pokój gry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2478023"/>
            <a:ext cx="4343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Maksymalnie 4 graczy przy stole.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50" b="0" i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Mieszaj ludzi i boty dowolnie 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gra zadba o płynny przebieg tury.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886200"/>
            <a:ext cx="4800600" cy="201168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0" y="3886200"/>
            <a:ext cx="73152" cy="201168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14032" y="4050792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Boty, które myślą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489704"/>
            <a:ext cx="4343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Boty rzucają kostką, kupują pola,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ulepszają, spłacają długi i wykupują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działki — sterują grą tak, by nigdy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4C6"/>
                </a:solidFill>
                <a:latin typeface="Segoe UI"/>
              </a:rPr>
              <a:t>nie utknęła w miejscu.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" y="5029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9A8E6"/>
                </a:solidFill>
                <a:latin typeface="Segoe UI"/>
              </a:rPr>
              <a:t>EKONOMIA KONTA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5FA"/>
                </a:solidFill>
                <a:latin typeface="Segoe UI"/>
              </a:rPr>
              <a:t>Monety i sklep ze skrzynkami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554480" cy="411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9B4C6"/>
                </a:solidFill>
                <a:latin typeface="Segoe UI"/>
              </a:rPr>
              <a:t>Politechnika Monopoly  ·  Gra o Przetrwanie na kampusie 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9B4C6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182880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F2F5FA"/>
                </a:solidFill>
                <a:latin typeface="Segoe UI"/>
              </a:rPr>
              <a:t>Za granie zdobywasz </a:t>
            </a:r>
            <a:r>
              <a:rPr sz="1550" b="1" i="0">
                <a:solidFill>
                  <a:srgbClr val="F5B81E"/>
                </a:solidFill>
                <a:latin typeface="Segoe UI"/>
              </a:rPr>
              <a:t>monety</a:t>
            </a:r>
            <a:r>
              <a:rPr sz="1550" b="0" i="0">
                <a:solidFill>
                  <a:srgbClr val="F2F5FA"/>
                </a:solidFill>
                <a:latin typeface="Segoe UI"/>
              </a:rPr>
              <a:t> (start: 1000). Wygrana to +500, sam udział +100, a dodatkowe monety dają osiągnięcia. Monety wydajesz w sklepie na skrzynki z kosmetykami.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7" y="2880360"/>
            <a:ext cx="3611880" cy="233172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1207" y="2880360"/>
            <a:ext cx="3611880" cy="109728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" y="320040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2F5FA"/>
                </a:solidFill>
                <a:latin typeface="Segoe UI"/>
              </a:rPr>
              <a:t>Skrzynka Pionków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" y="37490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B81E"/>
                </a:solidFill>
                <a:latin typeface="Segoe UI"/>
              </a:rPr>
              <a:t>300 monet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" y="434340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Nowe modele pionków 3D do gry.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7" y="2880360"/>
            <a:ext cx="3611880" cy="233172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5967" y="2880360"/>
            <a:ext cx="3611880" cy="109728"/>
          </a:xfrm>
          <a:prstGeom prst="rect">
            <a:avLst/>
          </a:prstGeom>
          <a:solidFill>
            <a:srgbClr val="A8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7" y="320040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2F5FA"/>
                </a:solidFill>
                <a:latin typeface="Segoe UI"/>
              </a:rPr>
              <a:t>Skrzynka Tytułów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7" y="37490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B81E"/>
                </a:solidFill>
                <a:latin typeface="Segoe UI"/>
              </a:rPr>
              <a:t>250 monet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7" y="434340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Tytuły wyświetlane przy profilu.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0727" y="2880360"/>
            <a:ext cx="3611880" cy="233172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10727" y="2880360"/>
            <a:ext cx="3611880" cy="109728"/>
          </a:xfrm>
          <a:prstGeom prst="rect">
            <a:avLst/>
          </a:prstGeom>
          <a:solidFill>
            <a:srgbClr val="F5B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7" y="320040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2F5FA"/>
                </a:solidFill>
                <a:latin typeface="Segoe UI"/>
              </a:rPr>
              <a:t>Skrzynka Ramek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7" y="37490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B81E"/>
                </a:solidFill>
                <a:latin typeface="Segoe UI"/>
              </a:rPr>
              <a:t>350 monet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7" y="434340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Ozdobne ramki awatara.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" y="54406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A9B4C6"/>
                </a:solidFill>
                <a:latin typeface="Segoe UI"/>
              </a:rPr>
              <a:t>Zdobyte przedmioty zakładasz w ekwipunku — założony pionek i kolor wchodzą z Tobą do gry.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" y="5029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9A8E6"/>
                </a:solidFill>
                <a:latin typeface="Segoe UI"/>
              </a:rPr>
              <a:t>CODZIENNE NAGRODY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5FA"/>
                </a:solidFill>
                <a:latin typeface="Segoe UI"/>
              </a:rPr>
              <a:t>Koło fortuny, seria i osiągnięcia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554480" cy="411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9B4C6"/>
                </a:solidFill>
                <a:latin typeface="Segoe UI"/>
              </a:rPr>
              <a:t>Politechnika Monopoly  ·  Gra o Przetrwanie na kampusie 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9B4C6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1920240"/>
            <a:ext cx="3611880" cy="356616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7" y="1920240"/>
            <a:ext cx="73152" cy="3566160"/>
          </a:xfrm>
          <a:prstGeom prst="rect">
            <a:avLst/>
          </a:prstGeom>
          <a:solidFill>
            <a:srgbClr val="F5B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39" y="208483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Koło Fortuny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" y="2523744"/>
            <a:ext cx="315468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Zakręć raz dziennie i wylosuj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ułatwienie do następnego meczu: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• bonus gotówki na start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• darmowa karta akcji w ręce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Codzienne kręcenie nabija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dzienną serię (daily streak).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920240"/>
            <a:ext cx="3611880" cy="356616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1920240"/>
            <a:ext cx="73152" cy="3566160"/>
          </a:xfrm>
          <a:prstGeom prst="rect">
            <a:avLst/>
          </a:prstGeom>
          <a:solidFill>
            <a:srgbClr val="2E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08483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Dzienna seria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23744"/>
            <a:ext cx="315468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Wracaj codziennie, by zwiększać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swoją passę logowań.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Im dłuższa seria, tym lepiej 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to Twój licznik regularności.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Widoczna na pulpicie obok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statystyk.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7" y="1920240"/>
            <a:ext cx="3547872" cy="356616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0727" y="1920240"/>
            <a:ext cx="73152" cy="3566160"/>
          </a:xfrm>
          <a:prstGeom prst="rect">
            <a:avLst/>
          </a:prstGeom>
          <a:solidFill>
            <a:srgbClr val="A8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59" y="2084832"/>
            <a:ext cx="3090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Osiągnięcia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2523744"/>
            <a:ext cx="309067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Odblokowuj odznaki za kamienie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milowe, np. pierwsze zwycięstwo.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Każde osiągnięcie daje nagrodę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w monetach.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Przyznawane automatycznie 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także wstecz za dawne mecze.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" y="5029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9A8E6"/>
                </a:solidFill>
                <a:latin typeface="Segoe UI"/>
              </a:rPr>
              <a:t>SPOŁECZNOŚĆ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5FA"/>
                </a:solidFill>
                <a:latin typeface="Segoe UI"/>
              </a:rPr>
              <a:t>Znajomi, profile i komentarze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554480" cy="411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9B4C6"/>
                </a:solidFill>
                <a:latin typeface="Segoe UI"/>
              </a:rPr>
              <a:t>Politechnika Monopoly  ·  Gra o Przetrwanie na kampusie 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9B4C6"/>
                </a:solidFill>
                <a:latin typeface="Segoe U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2011680"/>
            <a:ext cx="5532120" cy="146304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7" y="2011680"/>
            <a:ext cx="73152" cy="14630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39" y="2176272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2F5FA"/>
                </a:solidFill>
                <a:latin typeface="Segoe UI"/>
              </a:rPr>
              <a:t>Znajomi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" y="2615184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Wyszukuj graczy, wysyłaj i przyjmuj zaproszenia.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2011680"/>
            <a:ext cx="5532120" cy="146304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7" y="2011680"/>
            <a:ext cx="73152" cy="1463040"/>
          </a:xfrm>
          <a:prstGeom prst="rect">
            <a:avLst/>
          </a:prstGeom>
          <a:solidFill>
            <a:srgbClr val="2E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39" y="2176272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2F5FA"/>
                </a:solidFill>
                <a:latin typeface="Segoe UI"/>
              </a:rPr>
              <a:t>Publiczny profil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2615184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Twój profil /u/login obejrzy każdy — też bez konta.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7" y="3730752"/>
            <a:ext cx="5532120" cy="146304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1207" y="3730752"/>
            <a:ext cx="73152" cy="1463040"/>
          </a:xfrm>
          <a:prstGeom prst="rect">
            <a:avLst/>
          </a:prstGeom>
          <a:solidFill>
            <a:srgbClr val="F5B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39" y="3895344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2F5FA"/>
                </a:solidFill>
                <a:latin typeface="Segoe UI"/>
              </a:rPr>
              <a:t>Komentarze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4334256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Zostaw wpis pod cudzym profilem (z odpowiedziami i lajkami).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7" y="3730752"/>
            <a:ext cx="5532120" cy="146304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36207" y="3730752"/>
            <a:ext cx="73152" cy="1463040"/>
          </a:xfrm>
          <a:prstGeom prst="rect">
            <a:avLst/>
          </a:prstGeom>
          <a:solidFill>
            <a:srgbClr val="A8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39" y="3895344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2F5FA"/>
                </a:solidFill>
                <a:latin typeface="Segoe UI"/>
              </a:rPr>
              <a:t>Zaproszenia do gry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39" y="4334256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Zaproś znajomego prosto do swojego pokoju.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" y="5029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9A8E6"/>
                </a:solidFill>
                <a:latin typeface="Segoe UI"/>
              </a:rPr>
              <a:t>RYWALIZACJA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5FA"/>
                </a:solidFill>
                <a:latin typeface="Segoe UI"/>
              </a:rPr>
              <a:t>Ranking ELO i poziomy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554480" cy="411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9B4C6"/>
                </a:solidFill>
                <a:latin typeface="Segoe UI"/>
              </a:rPr>
              <a:t>Politechnika Monopoly  ·  Gra o Przetrwanie na kampusie 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9B4C6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1920240"/>
            <a:ext cx="603504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29A8E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2F5FA"/>
                </a:solidFill>
                <a:latin typeface="Segoe UI"/>
              </a:rPr>
              <a:t>System ELO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     Każdy zaczyna od 1000 punktów.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29A8E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2F5FA"/>
                </a:solidFill>
                <a:latin typeface="Segoe UI"/>
              </a:rPr>
              <a:t>Wygrywasz — rośniesz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     Zwycięstwo dodaje ELO (więcej przy większej liczbie graczy).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29A8E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2F5FA"/>
                </a:solidFill>
                <a:latin typeface="Segoe UI"/>
              </a:rPr>
              <a:t>Poziom z ELO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     Twój poziom przelicza się automatycznie z punktów ELO.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29A8E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2F5FA"/>
                </a:solidFill>
                <a:latin typeface="Segoe UI"/>
              </a:rPr>
              <a:t>Ranking najlepszych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     Tabela TOP graczy widoczna na stronie głównej.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920240"/>
            <a:ext cx="4617720" cy="384048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2121408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B81E"/>
                </a:solidFill>
                <a:latin typeface="Segoe UI"/>
              </a:rPr>
              <a:t>🏆  RANKING ELO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697480"/>
            <a:ext cx="4069080" cy="457200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52360" y="27432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B81E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743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2F5FA"/>
                </a:solidFill>
                <a:latin typeface="Segoe UI"/>
              </a:rPr>
              <a:t>krystian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7432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5B81E"/>
                </a:solidFill>
                <a:latin typeface="Segoe UI"/>
              </a:rPr>
              <a:t>1612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264408"/>
            <a:ext cx="4069080" cy="457200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331012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31012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2F5FA"/>
                </a:solidFill>
                <a:latin typeface="Segoe UI"/>
              </a:rPr>
              <a:t>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331012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5B81E"/>
                </a:solidFill>
                <a:latin typeface="Segoe UI"/>
              </a:rPr>
              <a:t>1540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831336"/>
            <a:ext cx="4069080" cy="457200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52360" y="3877056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877056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2F5FA"/>
                </a:solidFill>
                <a:latin typeface="Segoe UI"/>
              </a:rPr>
              <a:t>ola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877056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5B81E"/>
                </a:solidFill>
                <a:latin typeface="Segoe UI"/>
              </a:rPr>
              <a:t>1488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398264"/>
            <a:ext cx="4069080" cy="457200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52360" y="4443984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F5FA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4398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2F5FA"/>
                </a:solidFill>
                <a:latin typeface="Segoe UI"/>
              </a:rPr>
              <a:t>gracz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444398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5B81E"/>
                </a:solidFill>
                <a:latin typeface="Segoe UI"/>
              </a:rPr>
              <a:t>1430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4965192"/>
            <a:ext cx="4069080" cy="457200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52360" y="501091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A9B4C6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01091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2F5FA"/>
                </a:solidFill>
                <a:latin typeface="Segoe UI"/>
              </a:rPr>
              <a:t>kuba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501091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5B81E"/>
                </a:solidFill>
                <a:latin typeface="Segoe UI"/>
              </a:rPr>
              <a:t>1375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" y="5029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9A8E6"/>
                </a:solidFill>
                <a:latin typeface="Segoe UI"/>
              </a:rPr>
              <a:t>KONTA I PORZĄDEK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5FA"/>
                </a:solidFill>
                <a:latin typeface="Segoe UI"/>
              </a:rPr>
              <a:t>Role, weryfikacja i moderacja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554480" cy="411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9B4C6"/>
                </a:solidFill>
                <a:latin typeface="Segoe UI"/>
              </a:rPr>
              <a:t>Politechnika Monopoly  ·  Gra o Przetrwanie na kampusie 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9B4C6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1920240"/>
            <a:ext cx="3611880" cy="356616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7" y="1920240"/>
            <a:ext cx="73152" cy="356616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39" y="208483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Gracz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" y="2523744"/>
            <a:ext cx="315468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Pełny dostęp do gry, profilu,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sklepu i społeczności.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Może zweryfikować konto,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wgrywając legitymację studencką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(widzi ją tylko obsługa).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920240"/>
            <a:ext cx="3611880" cy="356616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1920240"/>
            <a:ext cx="73152" cy="3566160"/>
          </a:xfrm>
          <a:prstGeom prst="rect">
            <a:avLst/>
          </a:prstGeom>
          <a:solidFill>
            <a:srgbClr val="2E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08483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Moderator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23744"/>
            <a:ext cx="315468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Dba o porządek: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• zatwierdza weryfikacje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• wystawia ostrzeżenia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• zawiesza konta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• może zakończyć sesję gry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7" y="1920240"/>
            <a:ext cx="3547872" cy="356616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0727" y="1920240"/>
            <a:ext cx="73152" cy="356616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59" y="2084832"/>
            <a:ext cx="3090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5FA"/>
                </a:solidFill>
                <a:latin typeface="Segoe UI"/>
              </a:rPr>
              <a:t>Administrator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2523744"/>
            <a:ext cx="309067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Pełna kontrola: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9B4C6"/>
              </a:solidFill>
              <a:latin typeface="Segoe U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• zarządza użytkownikami i rolami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• dodaje monety i skrzynki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• podgląd aktywnych sesji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• edycja i usuwanie kont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" y="5029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9A8E6"/>
                </a:solidFill>
                <a:latin typeface="Segoe UI"/>
              </a:rPr>
              <a:t>KOMFORT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9264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5FA"/>
                </a:solidFill>
                <a:latin typeface="Segoe UI"/>
              </a:rPr>
              <a:t>Wygląd i dostępność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554480" cy="41148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A9B4C6"/>
                </a:solidFill>
                <a:latin typeface="Segoe UI"/>
              </a:rPr>
              <a:t>Politechnika Monopoly  ·  Gra o Przetrwanie na kampusie 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A9B4C6"/>
                </a:solidFill>
                <a:latin typeface="Segoe U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2011680"/>
            <a:ext cx="5532120" cy="146304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7" y="2011680"/>
            <a:ext cx="73152" cy="1463040"/>
          </a:xfrm>
          <a:prstGeom prst="rect">
            <a:avLst/>
          </a:prstGeom>
          <a:solidFill>
            <a:srgbClr val="A8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39" y="2176272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F5FA"/>
                </a:solidFill>
                <a:latin typeface="Segoe UI"/>
              </a:rPr>
              <a:t>Tryb jasny i nocny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" y="2615184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Przełącz motyw jednym kliknięciem — wybór jest zapamiętany.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2011680"/>
            <a:ext cx="5532120" cy="146304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7" y="2011680"/>
            <a:ext cx="73152" cy="14630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39" y="2176272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F5FA"/>
                </a:solidFill>
                <a:latin typeface="Segoe UI"/>
              </a:rPr>
              <a:t>Responsywny interfejs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2615184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Działa w przeglądarce na komputerze.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7" y="3730752"/>
            <a:ext cx="5532120" cy="146304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1207" y="3730752"/>
            <a:ext cx="73152" cy="1463040"/>
          </a:xfrm>
          <a:prstGeom prst="rect">
            <a:avLst/>
          </a:prstGeom>
          <a:solidFill>
            <a:srgbClr val="2EC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39" y="3895344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F5FA"/>
                </a:solidFill>
                <a:latin typeface="Segoe UI"/>
              </a:rPr>
              <a:t>Dostępność (WCAG 2.1)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4334256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Czytelne kontrasty, etykiety i obsługa czytników ekranu.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7" y="3730752"/>
            <a:ext cx="5532120" cy="146304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36207" y="3730752"/>
            <a:ext cx="73152" cy="1463040"/>
          </a:xfrm>
          <a:prstGeom prst="rect">
            <a:avLst/>
          </a:prstGeom>
          <a:solidFill>
            <a:srgbClr val="F5B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39" y="3895344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F5FA"/>
                </a:solidFill>
                <a:latin typeface="Segoe UI"/>
              </a:rPr>
              <a:t>Powiadomienia na żywo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39" y="4334256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9B4C6"/>
                </a:solidFill>
                <a:latin typeface="Segoe UI"/>
              </a:rPr>
              <a:t>Zaproszenia i zdarzenia w grze docierają natychmiast.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2194560" cy="146304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566928" cy="91440"/>
          </a:xfrm>
          <a:prstGeom prst="rect">
            <a:avLst/>
          </a:prstGeom>
          <a:solidFill>
            <a:srgbClr val="29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7008" y="1417320"/>
            <a:ext cx="384048" cy="91440"/>
          </a:xfrm>
          <a:prstGeom prst="rect">
            <a:avLst/>
          </a:prstGeom>
          <a:solidFill>
            <a:srgbClr val="EA3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1600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2F5FA"/>
                </a:solidFill>
                <a:latin typeface="Segoe UI"/>
              </a:rPr>
              <a:t>Gotowy, by zdominować kampus?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974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A9B4C6"/>
                </a:solidFill>
                <a:latin typeface="Segoe UI"/>
              </a:rPr>
              <a:t>Załóż konto, zaproś znajomych i zaczynaj grę — pierwszy mecz dzieli Cię kilka kliknięć.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611880"/>
            <a:ext cx="502920" cy="502920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363016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9A8E6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2F5FA"/>
                </a:solidFill>
                <a:latin typeface="Segoe UI"/>
              </a:rPr>
              <a:t>Zarejestruj się i zaloguj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270248"/>
            <a:ext cx="502920" cy="502920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4288536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B81E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31596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2F5FA"/>
                </a:solidFill>
                <a:latin typeface="Segoe UI"/>
              </a:rPr>
              <a:t>Zakręć kołem fortuny po bonus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928616"/>
            <a:ext cx="502920" cy="502920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4946904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EC486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974336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2F5FA"/>
                </a:solidFill>
                <a:latin typeface="Segoe UI"/>
              </a:rPr>
              <a:t>Stwórz pokój i zaproś znajomych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586984"/>
            <a:ext cx="502920" cy="502920"/>
          </a:xfrm>
          <a:prstGeom prst="roundRect">
            <a:avLst/>
          </a:prstGeom>
          <a:solidFill>
            <a:srgbClr val="22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560527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EA362C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2F5FA"/>
                </a:solidFill>
                <a:latin typeface="Segoe UI"/>
              </a:rPr>
              <a:t>Rzuć kostką i graj!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9B4C6"/>
                </a:solidFill>
                <a:latin typeface="Segoe UI"/>
              </a:rPr>
              <a:t>Politechnika Monopoly · Gra o Przetrwanie · Politechnika Białostocka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1542</Words>
  <Application>Microsoft Office PowerPoint</Application>
  <PresentationFormat>Widescreen</PresentationFormat>
  <Paragraphs>328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miko</cp:lastModifiedBy>
  <cp:revision>3</cp:revision>
  <dcterms:created xsi:type="dcterms:W3CDTF">2013-01-27T09:14:16Z</dcterms:created>
  <dcterms:modified xsi:type="dcterms:W3CDTF">2026-06-16T18:55:41Z</dcterms:modified>
  <cp:category/>
</cp:coreProperties>
</file>